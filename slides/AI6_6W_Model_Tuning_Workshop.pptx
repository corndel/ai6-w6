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144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t>AI6 Workshop 6W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Making Things Better with Model Tuning</a:t>
            </a:r>
          </a:p>
          <a:p>
            <a:r>
              <a:t>Unit 6 — Optimisation (maths made practical)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will learn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What fine‑tuning is (and isn’t): optimisation from a strong starting point</a:t>
            </a:r>
          </a:p>
          <a:p>
            <a:pPr>
              <a:defRPr sz="2000"/>
            </a:pPr>
            <a:r>
              <a:t>What happens inside trainer.train(): loss → gradients → weight updates</a:t>
            </a:r>
          </a:p>
          <a:p>
            <a:pPr>
              <a:defRPr sz="2000"/>
            </a:pPr>
            <a:r>
              <a:t>How to diagnose learning rate issues from curves and metrics</a:t>
            </a:r>
          </a:p>
          <a:p>
            <a:pPr>
              <a:defRPr sz="2000"/>
            </a:pPr>
            <a:r>
              <a:t>How to spot and explain the generalisation gap (train vs validation)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6 “maths” without the pain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We won’t derive calculus on a whiteboard…</a:t>
            </a:r>
          </a:p>
          <a:p>
            <a:pPr>
              <a:defRPr sz="2000"/>
            </a:pPr>
            <a:r>
              <a:t>…but we will use the real words: loss, gradient (partial derivative), SGD, learning rate, generalisation</a:t>
            </a:r>
          </a:p>
          <a:p>
            <a:pPr>
              <a:defRPr sz="2000"/>
            </a:pPr>
            <a:r>
              <a:t>Why: tools and papers use this vocabulary — engineers need to speak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Fine‑tuning vs retraining vs optimisation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797" y="2479040"/>
            <a:ext cx="4715650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dirty="0" err="1"/>
              <a:t>Optimisation</a:t>
            </a:r>
            <a:r>
              <a:rPr lang="en-GB" dirty="0"/>
              <a:t> </a:t>
            </a:r>
            <a:r>
              <a:rPr lang="en-GB" i="1" dirty="0"/>
              <a:t>(the “mechanism”)</a:t>
            </a:r>
            <a:endParaRPr dirty="0"/>
          </a:p>
          <a:p>
            <a:pPr lvl="1">
              <a:defRPr sz="1800"/>
            </a:pPr>
            <a:r>
              <a:rPr dirty="0"/>
              <a:t>Reduce a loss function by adjusting weights</a:t>
            </a:r>
          </a:p>
          <a:p>
            <a:pPr lvl="1">
              <a:defRPr sz="1800"/>
            </a:pPr>
            <a:r>
              <a:rPr dirty="0"/>
              <a:t>Uses gradients (slopes / partial derivatives)</a:t>
            </a:r>
          </a:p>
          <a:p>
            <a:pPr lvl="1">
              <a:defRPr sz="1800"/>
            </a:pPr>
            <a:r>
              <a:rPr dirty="0"/>
              <a:t>Runs in tiny steps, thousands of 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04565" y="4122570"/>
            <a:ext cx="4023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dirty="0"/>
              <a:t>Fine‑tuning vs retraining (the context)</a:t>
            </a:r>
          </a:p>
          <a:p>
            <a:pPr lvl="1">
              <a:defRPr sz="1800"/>
            </a:pPr>
            <a:r>
              <a:rPr dirty="0"/>
              <a:t>Fine‑tuning: start from a pretrained model</a:t>
            </a:r>
          </a:p>
          <a:p>
            <a:pPr lvl="1">
              <a:defRPr sz="1800"/>
            </a:pPr>
            <a:r>
              <a:rPr dirty="0"/>
              <a:t>Retraining: run </a:t>
            </a:r>
            <a:r>
              <a:rPr dirty="0" err="1"/>
              <a:t>optimisation</a:t>
            </a:r>
            <a:r>
              <a:rPr dirty="0"/>
              <a:t> again because data changed</a:t>
            </a:r>
          </a:p>
          <a:p>
            <a:pPr lvl="1">
              <a:defRPr sz="1800"/>
            </a:pPr>
            <a:r>
              <a:rPr dirty="0"/>
              <a:t>Training from scratch: rare + expensive in business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</a:t>
            </a:r>
            <a:r>
              <a:rPr dirty="0" err="1"/>
              <a:t>trainer.train</a:t>
            </a:r>
            <a:r>
              <a:rPr dirty="0"/>
              <a:t>()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Reads a mini‑batch of labelled examples</a:t>
            </a:r>
          </a:p>
          <a:p>
            <a:pPr>
              <a:defRPr sz="2000"/>
            </a:pPr>
            <a:r>
              <a:rPr dirty="0"/>
              <a:t>Predicts labels</a:t>
            </a:r>
          </a:p>
          <a:p>
            <a:pPr>
              <a:defRPr sz="2000"/>
            </a:pPr>
            <a:r>
              <a:rPr dirty="0"/>
              <a:t>Scores wrongness (loss)</a:t>
            </a:r>
          </a:p>
          <a:p>
            <a:pPr>
              <a:defRPr sz="2000"/>
            </a:pPr>
            <a:r>
              <a:rPr dirty="0"/>
              <a:t>Computes gradients (how to reduce loss)</a:t>
            </a:r>
          </a:p>
          <a:p>
            <a:pPr>
              <a:defRPr sz="2000"/>
            </a:pPr>
            <a:r>
              <a:rPr dirty="0"/>
              <a:t>Updates weights using an </a:t>
            </a:r>
            <a:r>
              <a:rPr dirty="0" err="1"/>
              <a:t>optimiser</a:t>
            </a:r>
            <a:r>
              <a:rPr dirty="0"/>
              <a:t> (</a:t>
            </a:r>
            <a:r>
              <a:rPr lang="en-GB" dirty="0"/>
              <a:t>e.g.</a:t>
            </a:r>
            <a:r>
              <a:rPr dirty="0"/>
              <a:t> </a:t>
            </a:r>
            <a:r>
              <a:rPr dirty="0" err="1"/>
              <a:t>AdamW</a:t>
            </a:r>
            <a:r>
              <a:rPr dirty="0"/>
              <a:t> — in the SGD family)</a:t>
            </a:r>
          </a:p>
          <a:p>
            <a:pPr>
              <a:defRPr sz="2000"/>
            </a:pPr>
            <a:r>
              <a:rPr dirty="0"/>
              <a:t>Repeats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Metrics: what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Loss = altitude (are we going downhill mathematically?)</a:t>
            </a:r>
          </a:p>
          <a:p>
            <a:pPr>
              <a:defRPr sz="2000"/>
            </a:pPr>
            <a:r>
              <a:t>Validation accuracy/F1 = road test (does it work on unseen examples?)</a:t>
            </a:r>
          </a:p>
          <a:p>
            <a:pPr>
              <a:defRPr sz="2000"/>
            </a:pPr>
            <a:r>
              <a:t>Generalisation gap = train performance − validation performance</a:t>
            </a:r>
          </a:p>
          <a:p>
            <a:pPr>
              <a:defRPr sz="2000"/>
            </a:pPr>
            <a:r>
              <a:t>Gap widening = likely overfitting (memorising)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Activity: learning rate presets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40233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What you run</a:t>
            </a:r>
          </a:p>
          <a:p>
            <a:pPr lvl="1">
              <a:defRPr sz="1800"/>
            </a:pPr>
            <a:r>
              <a:t>Each group picks one preset:</a:t>
            </a:r>
          </a:p>
          <a:p>
            <a:pPr lvl="1">
              <a:defRPr sz="1800"/>
            </a:pPr>
            <a:r>
              <a:t>TOO_LOW, JUST_RIGHT, or TOO_HIGH</a:t>
            </a:r>
          </a:p>
          <a:p>
            <a:pPr lvl="1">
              <a:defRPr sz="1800"/>
            </a:pPr>
            <a:r>
              <a:t>Run 1–2 epochs and record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4307840"/>
            <a:ext cx="4848187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dirty="0"/>
              <a:t>What you expect</a:t>
            </a:r>
          </a:p>
          <a:p>
            <a:pPr lvl="1">
              <a:defRPr sz="1800"/>
            </a:pPr>
            <a:r>
              <a:rPr dirty="0"/>
              <a:t>TOO_LOW: curve barely moves</a:t>
            </a:r>
          </a:p>
          <a:p>
            <a:pPr lvl="1">
              <a:defRPr sz="1800"/>
            </a:pPr>
            <a:r>
              <a:rPr dirty="0"/>
              <a:t>JUST_RIGHT: steady improvement</a:t>
            </a:r>
          </a:p>
          <a:p>
            <a:pPr lvl="1">
              <a:defRPr sz="1800"/>
            </a:pPr>
            <a:r>
              <a:rPr dirty="0"/>
              <a:t>TOO_HIGH: unstable / oscillation / may error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curves (diagnostics)</a:t>
            </a:r>
          </a:p>
        </p:txBody>
      </p:sp>
      <p:pic>
        <p:nvPicPr>
          <p:cNvPr id="3" name="Picture 2" descr="curve_low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2499360" cy="1874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754880"/>
            <a:ext cx="2499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Too low LR</a:t>
            </a:r>
          </a:p>
          <a:p>
            <a:r>
              <a:t>(slow learning)</a:t>
            </a:r>
          </a:p>
        </p:txBody>
      </p:sp>
      <p:pic>
        <p:nvPicPr>
          <p:cNvPr id="5" name="Picture 4" descr="curve_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880" y="1463040"/>
            <a:ext cx="2499360" cy="1874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30880" y="4754880"/>
            <a:ext cx="2499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Just right</a:t>
            </a:r>
          </a:p>
          <a:p>
            <a:r>
              <a:t>(steady improvement)</a:t>
            </a:r>
          </a:p>
        </p:txBody>
      </p:sp>
      <p:pic>
        <p:nvPicPr>
          <p:cNvPr id="7" name="Picture 6" descr="curve_high_l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120" y="1463040"/>
            <a:ext cx="2499360" cy="1874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13120" y="4754880"/>
            <a:ext cx="2499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Too high LR</a:t>
            </a:r>
          </a:p>
          <a:p>
            <a:r>
              <a:t>(unstable)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Going further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Schedule: constant vs linear learning rate schedule</a:t>
            </a:r>
          </a:p>
          <a:p>
            <a:pPr>
              <a:defRPr sz="2000"/>
            </a:pPr>
            <a:r>
              <a:t>Freeze encoder: train only the classification head</a:t>
            </a:r>
          </a:p>
          <a:p>
            <a:pPr>
              <a:defRPr sz="2000"/>
            </a:pPr>
            <a:r>
              <a:t>Error analysis: confusion matrix + inspect misclassifications</a:t>
            </a:r>
          </a:p>
          <a:p>
            <a:pPr>
              <a:defRPr sz="2000"/>
            </a:pPr>
            <a:r>
              <a:t>Experiment tracking (optional): W&amp;B if policy allows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tuning rules (so you don’t waste time)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Always take a baseline</a:t>
            </a:r>
          </a:p>
          <a:p>
            <a:pPr>
              <a:defRPr sz="2000"/>
            </a:pPr>
            <a:r>
              <a:t>Change ONE dial at a time (start with learning rate)</a:t>
            </a:r>
          </a:p>
          <a:p>
            <a:pPr>
              <a:defRPr sz="2000"/>
            </a:pPr>
            <a:r>
              <a:t>Time‑box experiments (compute is money)</a:t>
            </a:r>
          </a:p>
          <a:p>
            <a:pPr>
              <a:defRPr sz="2000"/>
            </a:pPr>
            <a:r>
              <a:t>Write a short decision log (what you tried, what happened, what you’ll do next)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Wrap‑up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You can now explain fine‑tuning using the </a:t>
            </a:r>
            <a:r>
              <a:rPr dirty="0" err="1"/>
              <a:t>optimisation</a:t>
            </a:r>
            <a:r>
              <a:rPr dirty="0"/>
              <a:t> loop</a:t>
            </a:r>
          </a:p>
          <a:p>
            <a:pPr>
              <a:defRPr sz="2000"/>
            </a:pPr>
            <a:r>
              <a:rPr dirty="0"/>
              <a:t>You can diagnose learning rate issues from curves</a:t>
            </a:r>
          </a:p>
          <a:p>
            <a:pPr>
              <a:defRPr sz="2000"/>
            </a:pPr>
            <a:r>
              <a:rPr dirty="0"/>
              <a:t>You can describe </a:t>
            </a:r>
            <a:r>
              <a:rPr dirty="0" err="1"/>
              <a:t>generalisation</a:t>
            </a:r>
            <a:r>
              <a:rPr dirty="0"/>
              <a:t> gap and why it matters</a:t>
            </a:r>
          </a:p>
          <a:p>
            <a:pPr>
              <a:defRPr sz="2000"/>
            </a:pPr>
            <a:r>
              <a:rPr dirty="0"/>
              <a:t>Next: connect this to Unit 6 evidence (Task 6</a:t>
            </a:r>
            <a:r>
              <a:rPr lang="en-GB"/>
              <a:t> / CPD q’s</a:t>
            </a:r>
            <a:r>
              <a:t>)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511</Words>
  <Application>Microsoft Office PowerPoint</Application>
  <PresentationFormat>On-screen Show (4:3)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AI6 Workshop 6W</vt:lpstr>
      <vt:lpstr>What you will learn today</vt:lpstr>
      <vt:lpstr>Unit 6 “maths” without the pain</vt:lpstr>
      <vt:lpstr>Fine‑tuning vs retraining vs optimisation</vt:lpstr>
      <vt:lpstr>What trainer.train() does</vt:lpstr>
      <vt:lpstr>Metrics: what to watch</vt:lpstr>
      <vt:lpstr>Activity: learning rate presets</vt:lpstr>
      <vt:lpstr>Reading curves (diagnostics)</vt:lpstr>
      <vt:lpstr>Going further (optional)</vt:lpstr>
      <vt:lpstr>Practical tuning rules (so you don’t waste time)</vt:lpstr>
      <vt:lpstr>Wrap‑up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Mike Hoffman</cp:lastModifiedBy>
  <cp:revision>2</cp:revision>
  <dcterms:created xsi:type="dcterms:W3CDTF">2013-01-27T09:14:16Z</dcterms:created>
  <dcterms:modified xsi:type="dcterms:W3CDTF">2026-03-04T13:35:38Z</dcterms:modified>
  <cp:category/>
</cp:coreProperties>
</file>