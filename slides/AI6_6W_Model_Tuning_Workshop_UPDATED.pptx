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25"/>
    <p:sldId id="258" r:id="rId3"/>
    <p:sldId id="259" r:id="rId17"/>
    <p:sldId id="260" r:id="rId4"/>
    <p:sldId id="261" r:id="rId5"/>
    <p:sldId id="262" r:id="rId6"/>
    <p:sldId id="263" r:id="rId7"/>
    <p:sldId id="264" r:id="rId26"/>
    <p:sldId id="265" r:id="rId18"/>
    <p:sldId id="266" r:id="rId9"/>
    <p:sldId id="267" r:id="rId19"/>
    <p:sldId id="268" r:id="rId20"/>
    <p:sldId id="269" r:id="rId8"/>
    <p:sldId id="270" r:id="rId21"/>
    <p:sldId id="271" r:id="rId22"/>
    <p:sldId id="272" r:id="rId23"/>
    <p:sldId id="273" r:id="rId24"/>
    <p:sldId id="274" r:id="rId11"/>
    <p:sldId id="275" r:id="rId10"/>
    <p:sldId id="27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44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AI6 Workshop 6W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Making Things Better with Model Tuning</a:t>
            </a:r>
          </a:p>
          <a:p>
            <a:r>
              <a:t>Unit 6 — Optimisation (maths made practical)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learn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fine‑tuning is (and isn’t): optimisation from a strong starting point</a:t>
            </a:r>
          </a:p>
          <a:p>
            <a:pPr>
              <a:defRPr sz="2000"/>
            </a:pPr>
            <a:r>
              <a:t>What happens inside trainer.train(): loss → gradients → weight updates</a:t>
            </a:r>
          </a:p>
          <a:p>
            <a:pPr>
              <a:defRPr sz="2000"/>
            </a:pPr>
            <a:r>
              <a:t>How to diagnose learning rate issues from curves and metrics</a:t>
            </a:r>
          </a:p>
          <a:p>
            <a:pPr>
              <a:defRPr sz="2000"/>
            </a:pPr>
            <a:r>
              <a:t>How to spot and explain the generalisation gap (train vs validation)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6 “maths” without the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won’t derive calculus on a whiteboard…</a:t>
            </a:r>
          </a:p>
          <a:p>
            <a:pPr>
              <a:defRPr sz="2000"/>
            </a:pPr>
            <a:r>
              <a:t>…but we will use the real words: loss, gradient (partial derivative), SGD, learning rate, generalisation</a:t>
            </a:r>
          </a:p>
          <a:p>
            <a:pPr>
              <a:defRPr sz="2000"/>
            </a:pPr>
            <a:r>
              <a:t>Why: tools and papers use this vocabulary — engineers need to speak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Fine‑tuning vs retraining vs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797" y="2479040"/>
            <a:ext cx="4715650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 err="1"/>
              <a:t>Optimisation</a:t>
            </a:r>
            <a:r>
              <a:rPr lang="en-GB" dirty="0"/>
              <a:t xml:space="preserve"> </a:t>
            </a:r>
            <a:r>
              <a:rPr lang="en-GB" i="1" dirty="0"/>
              <a:t>(the “mechanism”)</a:t>
            </a:r>
            <a:endParaRPr dirty="0"/>
          </a:p>
          <a:p>
            <a:pPr lvl="1">
              <a:defRPr sz="1800"/>
            </a:pPr>
            <a:r>
              <a:rPr dirty="0"/>
              <a:t>Reduce a loss function by adjusting weights</a:t>
            </a:r>
          </a:p>
          <a:p>
            <a:pPr lvl="1">
              <a:defRPr sz="1800"/>
            </a:pPr>
            <a:r>
              <a:rPr dirty="0"/>
              <a:t>Uses gradients (slopes / partial derivatives)</a:t>
            </a:r>
          </a:p>
          <a:p>
            <a:pPr lvl="1">
              <a:defRPr sz="1800"/>
            </a:pPr>
            <a:r>
              <a:rPr dirty="0"/>
              <a:t>Runs in tiny steps, thousands of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4565" y="412257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Fine‑tuning vs retraining (the context)</a:t>
            </a:r>
          </a:p>
          <a:p>
            <a:pPr lvl="1">
              <a:defRPr sz="1800"/>
            </a:pPr>
            <a:r>
              <a:rPr dirty="0"/>
              <a:t>Fine‑tuning: start from a pretrained model</a:t>
            </a:r>
          </a:p>
          <a:p>
            <a:pPr lvl="1">
              <a:defRPr sz="1800"/>
            </a:pPr>
            <a:r>
              <a:rPr dirty="0"/>
              <a:t xml:space="preserve">Retraining: run </a:t>
            </a:r>
            <a:r>
              <a:rPr dirty="0" err="1"/>
              <a:t>optimisation</a:t>
            </a:r>
            <a:r>
              <a:rPr dirty="0"/>
              <a:t xml:space="preserve"> again because data changed</a:t>
            </a:r>
          </a:p>
          <a:p>
            <a:pPr lvl="1">
              <a:defRPr sz="1800"/>
            </a:pPr>
            <a:r>
              <a:rPr dirty="0"/>
              <a:t>Training from scratch: rare + expensive in business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 xml:space="preserve">What </a:t>
            </a:r>
            <a:r>
              <a:rPr dirty="0" err="1"/>
              <a:t>trainer.train</a:t>
            </a:r>
            <a:r>
              <a:rPr dirty="0"/>
              <a:t>()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Reads a mini‑batch of labelled examples</a:t>
            </a:r>
          </a:p>
          <a:p>
            <a:pPr>
              <a:defRPr sz="2000"/>
            </a:pPr>
            <a:r>
              <a:rPr dirty="0"/>
              <a:t>Predicts labels</a:t>
            </a:r>
          </a:p>
          <a:p>
            <a:pPr>
              <a:defRPr sz="2000"/>
            </a:pPr>
            <a:r>
              <a:rPr dirty="0"/>
              <a:t>Scores wrongness (loss)</a:t>
            </a:r>
          </a:p>
          <a:p>
            <a:pPr>
              <a:defRPr sz="2000"/>
            </a:pPr>
            <a:r>
              <a:rPr dirty="0"/>
              <a:t>Computes gradients (how to reduce loss)</a:t>
            </a:r>
          </a:p>
          <a:p>
            <a:pPr>
              <a:defRPr sz="2000"/>
            </a:pPr>
            <a:r>
              <a:rPr dirty="0"/>
              <a:t xml:space="preserve">Updates weights using an </a:t>
            </a:r>
            <a:r>
              <a:rPr dirty="0" err="1"/>
              <a:t>optimiser</a:t>
            </a:r>
            <a:r>
              <a:rPr dirty="0"/>
              <a:t xml:space="preserve"> (</a:t>
            </a:r>
            <a:r>
              <a:rPr lang="en-GB" dirty="0"/>
              <a:t>e.g.</a:t>
            </a:r>
            <a:r>
              <a:rPr dirty="0"/>
              <a:t xml:space="preserve"> </a:t>
            </a:r>
            <a:r>
              <a:rPr dirty="0" err="1"/>
              <a:t>AdamW</a:t>
            </a:r>
            <a:r>
              <a:rPr dirty="0"/>
              <a:t xml:space="preserve"> — in the SGD family)</a:t>
            </a:r>
          </a:p>
          <a:p>
            <a:pPr>
              <a:defRPr sz="2000"/>
            </a:pPr>
            <a:r>
              <a:rPr dirty="0"/>
              <a:t>…and the loop runs thousands of times until loss stops improving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Loss = altitude (are we going downhill mathematically?)</a:t>
            </a:r>
          </a:p>
          <a:p>
            <a:pPr>
              <a:defRPr sz="2000"/>
            </a:pPr>
            <a:r>
              <a:t>Validation accuracy/F1 = road test (does it work on unseen examples?)</a:t>
            </a:r>
          </a:p>
          <a:p>
            <a:pPr>
              <a:defRPr sz="2000"/>
            </a:pPr>
            <a:r>
              <a:t>Generalisation gap = train performance − validation performance</a:t>
            </a:r>
          </a:p>
          <a:p>
            <a:pPr>
              <a:defRPr sz="2000"/>
            </a:pPr>
            <a:r>
              <a:t>Gap widening = likely overfitting (memorising)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Activity 3 — Group Learning Rate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What you run</a:t>
            </a:r>
          </a:p>
          <a:p>
            <a:pPr lvl="1">
              <a:defRPr sz="1800"/>
            </a:pPr>
            <a:r>
              <a:t>Each group picks one preset:</a:t>
            </a:r>
          </a:p>
          <a:p>
            <a:pPr lvl="1">
              <a:defRPr sz="1800"/>
            </a:pPr>
            <a:r>
              <a:t>TOO_LOW, JUST_RIGHT, or TOO_HIGH</a:t>
            </a:r>
          </a:p>
          <a:p>
            <a:pPr lvl="1">
              <a:defRPr sz="1800"/>
            </a:pPr>
            <a:r>
              <a:t>Run 1–2 epochs and record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4307840"/>
            <a:ext cx="4848187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What you expect</a:t>
            </a:r>
          </a:p>
          <a:p>
            <a:pPr lvl="1">
              <a:defRPr sz="1800"/>
            </a:pPr>
            <a:r>
              <a:rPr dirty="0"/>
              <a:t>TOO_LOW: curve barely moves</a:t>
            </a:r>
          </a:p>
          <a:p>
            <a:pPr lvl="1">
              <a:defRPr sz="1800"/>
            </a:pPr>
            <a:r>
              <a:rPr dirty="0"/>
              <a:t>JUST_RIGHT: steady improvement</a:t>
            </a:r>
          </a:p>
          <a:p>
            <a:pPr lvl="1">
              <a:defRPr sz="1800"/>
            </a:pPr>
            <a:r>
              <a:rPr dirty="0"/>
              <a:t>TOO_HIGH: unstable / oscillation / may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1 — Warm-Up: The Three Patterns (Task 2)</a:t>
            </a:r>
          </a:p>
        </p:txBody>
      </p:sp>
      <p:pic>
        <p:nvPicPr>
          <p:cNvPr id="3" name="Picture 2" descr="curve_low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499360" cy="1874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754880"/>
            <a:ext cx="249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Too low LR</a:t>
            </a:r>
          </a:p>
          <a:p>
            <a:r>
              <a:t>(slow learning)</a:t>
            </a:r>
          </a:p>
        </p:txBody>
      </p:sp>
      <p:pic>
        <p:nvPicPr>
          <p:cNvPr id="5" name="Picture 4" descr="curve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880" y="1463040"/>
            <a:ext cx="2499360" cy="1874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0880" y="4754880"/>
            <a:ext cx="249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Just right</a:t>
            </a:r>
          </a:p>
          <a:p>
            <a:r>
              <a:t>(steady improvement)</a:t>
            </a:r>
          </a:p>
        </p:txBody>
      </p:sp>
      <p:pic>
        <p:nvPicPr>
          <p:cNvPr id="7" name="Picture 6" descr="curve_high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20" y="1463040"/>
            <a:ext cx="2499360" cy="1874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13120" y="4754880"/>
            <a:ext cx="249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Too high LR</a:t>
            </a:r>
          </a:p>
          <a:p>
            <a:r>
              <a:t>(unstable)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786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rPr lang="en-GB" sz="1400" i="1"/>
              <a:t>Task 3: which of the examples from the previous slide feels familiar from your work? Share briefly — 2 minutes.  |  Task 4 — B3: explain one of these patterns to someone non-technical, no jargon.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8 (Going Further) —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Schedule: constant vs linear learning rate schedule</a:t>
            </a:r>
          </a:p>
          <a:p>
            <a:pPr>
              <a:defRPr sz="2000"/>
            </a:pPr>
            <a:r>
              <a:t>Freeze encoder: train only the classification head</a:t>
            </a:r>
          </a:p>
          <a:p>
            <a:pPr>
              <a:defRPr sz="2000"/>
            </a:pPr>
            <a:r>
              <a:t>Error analysis: confusion matrix + inspect misclassifications</a:t>
            </a:r>
          </a:p>
          <a:p>
            <a:pPr>
              <a:defRPr sz="2000"/>
            </a:pPr>
            <a:r>
              <a:t>Experiment tracking (optional): W&amp;B if policy allows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tuning rules (so you don’t waste 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Always take a baseline</a:t>
            </a:r>
          </a:p>
          <a:p>
            <a:pPr>
              <a:defRPr sz="2000"/>
            </a:pPr>
            <a:r>
              <a:t>Change ONE dial at a time (start with learning rate)</a:t>
            </a:r>
          </a:p>
          <a:p>
            <a:pPr>
              <a:defRPr sz="2000"/>
            </a:pPr>
            <a:r>
              <a:t>Time‑box experiments (compute is money)</a:t>
            </a:r>
          </a:p>
          <a:p>
            <a:pPr>
              <a:defRPr sz="2000"/>
            </a:pPr>
            <a:r>
              <a:t>Write a short decision log (what you tried, what happened, what you’ll do next)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Wrap‑up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 xml:space="preserve">You can now explain fine‑tuning using the </a:t>
            </a:r>
            <a:r>
              <a:rPr dirty="0" err="1"/>
              <a:t>optimisation</a:t>
            </a:r>
            <a:r>
              <a:rPr dirty="0"/>
              <a:t xml:space="preserve"> loop</a:t>
            </a:r>
          </a:p>
          <a:p>
            <a:pPr>
              <a:defRPr sz="2000"/>
            </a:pPr>
            <a:r>
              <a:rPr dirty="0"/>
              <a:t>You can diagnose learning rate issues from curves</a:t>
            </a:r>
          </a:p>
          <a:p>
            <a:pPr>
              <a:defRPr sz="2000"/>
            </a:pPr>
            <a:r>
              <a:rPr dirty="0"/>
              <a:t xml:space="preserve">You can describe </a:t>
            </a:r>
            <a:r>
              <a:rPr dirty="0" err="1"/>
              <a:t>generalisation</a:t>
            </a:r>
            <a:r>
              <a:rPr dirty="0"/>
              <a:t xml:space="preserve"> gap and why it matters</a:t>
            </a:r>
          </a:p>
          <a:p>
            <a:pPr>
              <a:defRPr sz="2000"/>
            </a:pPr>
            <a:r>
              <a:rPr dirty="0"/>
              <a:t>Next: connect this to Unit 6 evidence (Task 6</a:t>
            </a:r>
            <a:r>
              <a:rPr lang="en-GB"/>
              <a:t xml:space="preserve"> / CPD q’s</a:t>
            </a:r>
            <a:r>
              <a:t>)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Structure — Activities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Activity 1  Warm-Up: Curve Diagnosis          — Catch up; read curves; discuss what feels familiar (B3, K18)</a:t>
            </a:r>
          </a:p>
          <a:p>
            <a:pPr>
              <a:defRPr sz="2000"/>
            </a:pPr>
            <a:r>
              <a:t>Activity 2  Environment Setup and Baseline  — Record your 'before' measurement</a:t>
            </a:r>
          </a:p>
          <a:p>
            <a:pPr>
              <a:defRPr sz="2000"/>
            </a:pPr>
            <a:r>
              <a:t>Activity 3  Group Learning Rate Experiment  — Run your preset, log the results</a:t>
            </a:r>
          </a:p>
          <a:p>
            <a:pPr>
              <a:defRPr sz="2000"/>
            </a:pPr>
            <a:r>
              <a:t>Activity 4  Share and Compare               — Whole-group synthesis and engineering conclusion</a:t>
            </a:r>
          </a:p>
          <a:p>
            <a:pPr>
              <a:defRPr sz="2000"/>
            </a:pPr>
            <a:r>
              <a:t>Activity 5  Convergence Check               — Maths to compute cost (K18)</a:t>
            </a:r>
          </a:p>
          <a:p>
            <a:pPr>
              <a:defRPr sz="2000"/>
            </a:pPr>
            <a:r>
              <a:t>Activity 6  Data Quality and Uncertainty    — Stakeholder caveats (B5)</a:t>
            </a:r>
          </a:p>
          <a:p>
            <a:pPr>
              <a:defRPr sz="2000"/>
            </a:pPr>
            <a:r>
              <a:t>Activity 7  Reflection and Horizon Scan     — Task 6 materials (K18, S31, B1)</a:t>
            </a:r>
          </a:p>
          <a:p>
            <a:pPr>
              <a:defRPr sz="2000"/>
            </a:pPr>
            <a:r>
              <a:t>Activity 8  Going Further (optional)        — Extensions: schedule, freeze, error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1 — Warm-Up: Curve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15 minutes total — this is a warm-up, not a lab</a:t>
            </a:r>
          </a:p>
          <a:p>
            <a:pPr>
              <a:defRPr sz="2000"/>
            </a:pPr>
            <a:r>
              <a:t>Task 1 (5 min): catch up — what have you been working on since last workshop?</a:t>
            </a:r>
          </a:p>
          <a:p>
            <a:pPr>
              <a:defRPr sz="2000"/>
            </a:pPr>
            <a:r>
              <a:t>Task 2 (5 min): match each curve to its cause — TOO_LOW / JUST_RIGHT / TOO_HIGH</a:t>
            </a:r>
          </a:p>
          <a:p>
            <a:pPr>
              <a:defRPr sz="2000"/>
            </a:pPr>
            <a:r>
              <a:t>Task 3 (3 min): which of the examples on the previous slide felt familiar? Share briefly.</a:t>
            </a:r>
          </a:p>
          <a:p>
            <a:pPr>
              <a:defRPr sz="2000"/>
            </a:pPr>
            <a:r>
              <a:t>Task 4 (2 min): explain one unhealthy curve to a non-technical colleague — in plain language, no jargon</a:t>
            </a:r>
          </a:p>
          <a:p>
            <a:pPr>
              <a:defRPr sz="2000"/>
            </a:pPr>
            <a:r>
              <a:t>KSBs: K18 (reading optimisation signals)  |  B3 (communicating across technical and non-technical backgrounds)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2 — Environment Setup and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Clone repo, create virtual environment, install requirements (35 minutes)</a:t>
            </a:r>
          </a:p>
          <a:p>
            <a:pPr>
              <a:defRPr sz="2000"/>
            </a:pPr>
            <a:r>
              <a:t>Launch Jupyter Lab and open the main notebook</a:t>
            </a:r>
          </a:p>
          <a:p>
            <a:pPr>
              <a:defRPr sz="2000"/>
            </a:pPr>
            <a:r>
              <a:t>Run baseline evaluation cells — record metrics BEFORE any training</a:t>
            </a:r>
          </a:p>
          <a:p>
            <a:pPr>
              <a:defRPr sz="2000"/>
            </a:pPr>
            <a:r>
              <a:t>Locate and understand the speed dials (TRAIN_SUBSET, MAX_LENGTH, EPOCHS)</a:t>
            </a:r>
          </a:p>
          <a:p>
            <a:pPr>
              <a:defRPr sz="2000"/>
            </a:pPr>
            <a:r>
              <a:t>Checkpoint: baseline accuracy and F1-macro recorded in your experiment log</a:t>
            </a:r>
          </a:p>
          <a:p>
            <a:pPr>
              <a:defRPr sz="2000"/>
            </a:pPr>
            <a:r>
              <a:t>KSB: S9 (before-and-after comparison — this is your 'before')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3 — Group Learning Rate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Groups of 3–4, each running ONE preset: TOO_LOW, JUST_RIGHT, or TOO_HIGH</a:t>
            </a:r>
          </a:p>
          <a:p>
            <a:pPr>
              <a:defRPr sz="2000"/>
            </a:pPr>
            <a:r>
              <a:t>Before you run: write your prediction. Assign roles — driver, logger, observer.</a:t>
            </a:r>
          </a:p>
          <a:p>
            <a:pPr>
              <a:defRPr sz="2000"/>
            </a:pPr>
            <a:r>
              <a:t>0–25 min: run training, record metrics each epoch as they appear</a:t>
            </a:r>
          </a:p>
          <a:p>
            <a:pPr>
              <a:defRPr sz="2000"/>
            </a:pPr>
            <a:r>
              <a:t>25 min — midpoint pulse: each group calls one word across the room: “moving”, “stalled”, or “crashed”</a:t>
            </a:r>
          </a:p>
          <a:p>
            <a:pPr>
              <a:defRPr sz="2000"/>
            </a:pPr>
            <a:r>
              <a:t>25–50 min: inspect curve, complete experiment log, run extension if time allows</a:t>
            </a:r>
          </a:p>
          <a:p>
            <a:pPr>
              <a:defRPr sz="2000"/>
            </a:pPr>
            <a:r>
              <a:t>Your coach(es) will be circulating throughout — flag them if you are stuck or if training is very slow</a:t>
            </a:r>
          </a:p>
          <a:p>
            <a:pPr>
              <a:defRPr sz="2000"/>
            </a:pPr>
            <a:r>
              <a:t>KSBs: K18 (loss and gradients in action)  |  S9 (logging for reproducibility)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4 — Share and Compare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Each group reports results into the shared slide (30 minutes)</a:t>
            </a:r>
          </a:p>
          <a:p>
            <a:pPr>
              <a:defRPr sz="2000"/>
            </a:pPr>
            <a:r>
              <a:t>Compare curves across TOO_LOW / JUST_RIGHT / TOO_HIGH</a:t>
            </a:r>
          </a:p>
          <a:p>
            <a:pPr>
              <a:defRPr sz="2000"/>
            </a:pPr>
            <a:r>
              <a:t>Engineering conclusion: which preset would you recommend for production — and why?</a:t>
            </a:r>
          </a:p>
          <a:p>
            <a:pPr>
              <a:defRPr sz="2000"/>
            </a:pPr>
            <a:r>
              <a:t>Task 4 (3 min): share any patterns from today that felt familiar from your own work — the whole group benefits from hearing different sectors</a:t>
            </a:r>
          </a:p>
          <a:p>
            <a:pPr>
              <a:defRPr sz="2000"/>
            </a:pPr>
            <a:r>
              <a:t>Stakeholder framing (B3): draft a one-paragraph update for a non-technical colleague — translate the result, do not just report the numbers</a:t>
            </a:r>
          </a:p>
          <a:p>
            <a:pPr>
              <a:defRPr sz="2000"/>
            </a:pPr>
            <a:r>
              <a:t>KSBs: K18 (generalisation gap)  |  B3 (communicating across technical and non-technical backgrounds)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5 — Convergence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Convergence = the point where further training is no longer producing meaningful improvement.</a:t>
            </a:r>
          </a:p>
          <a:p>
            <a:pPr>
              <a:defRPr sz="2000"/>
            </a:pPr>
            <a:r>
              <a:t>Like a kettle approaching boiling point: the temperature is still rising, but each second adds less than the last. At some point, waiting longer gives you nothing more.</a:t>
            </a:r>
          </a:p>
          <a:p>
            <a:pPr>
              <a:defRPr sz="2000"/>
            </a:pPr>
            <a:r>
              <a:t>We measure it with loss delta: how much did loss change between the last two epochs? If the answer is very small (e.g. &lt; 0.01), the model has converged within our threshold.</a:t>
            </a:r>
          </a:p>
          <a:p>
            <a:pPr>
              <a:defRPr sz="2000"/>
            </a:pPr>
            <a:r>
              <a:t>Why it matters: reliability (a model still moving is not stable for deployment) + cost (training past convergence burns compute for no gain).</a:t>
            </a:r>
          </a:p>
          <a:p>
            <a:pPr>
              <a:defRPr sz="2000"/>
            </a:pPr>
            <a:r>
              <a:t>Run the convergence check cells (6b), record your delta, and answer: would more epochs be worth the cost for this task?</a:t>
            </a:r>
          </a:p>
          <a:p>
            <a:pPr>
              <a:defRPr sz="2000"/>
            </a:pPr>
            <a:r>
              <a:t>KSB: K18 — connecting mathematical principles (loss, gradients) to a practical engineering decision (when to stop)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6 — Data Quality and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Whole-group facilitated discussion (15 minutes)</a:t>
            </a:r>
          </a:p>
          <a:p>
            <a:pPr>
              <a:defRPr sz="2000"/>
            </a:pPr>
            <a:r>
              <a:t>financial_phrasebank (allagree subset): only the unambiguous cases — not representative of real text</a:t>
            </a:r>
          </a:p>
          <a:p>
            <a:pPr>
              <a:defRPr sz="2000"/>
            </a:pPr>
            <a:r>
              <a:t>synth_financial_sentiment.csv: synthetic — generated, not collected</a:t>
            </a:r>
          </a:p>
          <a:p>
            <a:pPr>
              <a:defRPr sz="2000"/>
            </a:pPr>
            <a:r>
              <a:t>Small subsets (300-800 examples): 2% accuracy difference may be noise</a:t>
            </a:r>
          </a:p>
          <a:p>
            <a:pPr>
              <a:defRPr sz="2000"/>
            </a:pPr>
            <a:r>
              <a:t>Deployment question: what caveats would you give a project manager?</a:t>
            </a:r>
          </a:p>
          <a:p>
            <a:pPr>
              <a:defRPr sz="2000"/>
            </a:pPr>
            <a:r>
              <a:t>KSBs: B5 (data quality and uncertainty), S14 (statistical analysis — margins)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7 — Reflection and Horizon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Part C: write reflections individually in silence (10 minutes)</a:t>
            </a:r>
          </a:p>
          <a:p>
            <a:pPr>
              <a:defRPr sz="2000"/>
            </a:pPr>
            <a:r>
              <a:t>Use the vocabulary from today: loss, gradient, generalisation gap, convergence</a:t>
            </a:r>
          </a:p>
          <a:p>
            <a:pPr>
              <a:defRPr sz="2000"/>
            </a:pPr>
            <a:r>
              <a:t>Part E: find ONE credible horizon scan source relevant to today (15 minutes)</a:t>
            </a:r>
          </a:p>
          <a:p>
            <a:pPr>
              <a:defRPr sz="2000"/>
            </a:pPr>
            <a:r>
              <a:t>Suggested searches: LoRA fine-tuning, learning rate schedules, training carbon footprint</a:t>
            </a:r>
          </a:p>
          <a:p>
            <a:pPr>
              <a:defRPr sz="2000"/>
            </a:pPr>
            <a:r>
              <a:t>Shareback: 2-3 volunteers share what they found and why</a:t>
            </a:r>
          </a:p>
          <a:p>
            <a:pPr>
              <a:defRPr sz="2000"/>
            </a:pPr>
            <a:r>
              <a:t>KSBs: K18, B1 (self-directed learning), S31/K28 (horizon scanning for Task 6)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we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Safeguarding: if you have concerns about a colleague or learner during today's session, please speak to your coach straightaway — they are here to help and will know how to take it forward. If you are unsure about your organisation's reporting process, ask your coach now.</a:t>
            </a:r>
          </a:p>
          <a:p>
            <a:pPr>
              <a:defRPr sz="2000"/>
            </a:pPr>
            <a:r>
              <a:t>Wellbeing check-in: take 30 seconds and turn to the person next to you — how are you doing today, honestly?</a:t>
            </a:r>
          </a:p>
          <a:p>
            <a:pPr>
              <a:defRPr sz="2000"/>
            </a:pPr>
            <a:r>
              <a:t>And one for yourself: what is one kind thing you have done for yourself this month?</a:t>
            </a:r>
          </a:p>
          <a:p>
            <a:pPr>
              <a:defRPr sz="2000"/>
            </a:pPr>
            <a:r>
              <a:t>There is no right answer. You do not have to share with the room. We ask because this work takes energy, and noticing how you are arriving matters.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You’ve seen this before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Iterative adjustment against a target is not unique to machine learning.</a:t>
            </a:r>
          </a:p>
          <a:p>
            <a:pPr>
              <a:defRPr sz="2000"/>
            </a:pPr>
            <a:r>
              <a:t>Too cautious (too low): a new team member given only tiny tasks — they technically improve, but so slowly it barely registers. A medication dose raised by a fraction each month when a bolder step is needed.</a:t>
            </a:r>
          </a:p>
          <a:p>
            <a:pPr>
              <a:defRPr sz="2000"/>
            </a:pPr>
            <a:r>
              <a:t>Too aggressive (too high): an interest rate raised 5% in one step — overshoots, causes recession. A diet changed by cutting 1,000 calories overnight — unsustainable, collapses.</a:t>
            </a:r>
          </a:p>
          <a:p>
            <a:pPr>
              <a:defRPr sz="2000"/>
            </a:pPr>
            <a:r>
              <a:t>Just right: a physio programme that stretches but does not injure — steady measurable gains, consistent across sessions.</a:t>
            </a:r>
          </a:p>
          <a:p>
            <a:pPr>
              <a:defRPr sz="2000"/>
            </a:pPr>
            <a:r>
              <a:t>Generalisation gap: a revision technique that works perfectly on past papers but fails in the actual exam. The student memorised the questions, not the subject.</a:t>
            </a:r>
          </a:p>
          <a:p>
            <a:pPr>
              <a:defRPr sz="2000"/>
            </a:pPr>
            <a:r>
              <a:t>Today you will watch these same patterns happen live inside a training loop — with numbers you can measure.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511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AI6 Workshop 6W</vt:lpstr>
      <vt:lpstr>What you will learn today</vt:lpstr>
      <vt:lpstr>Unit 6 “maths” without the pain</vt:lpstr>
      <vt:lpstr>Fine‑tuning vs retraining vs optimisation</vt:lpstr>
      <vt:lpstr>What trainer.train() does</vt:lpstr>
      <vt:lpstr>Metrics: what to watch</vt:lpstr>
      <vt:lpstr>Activity: learning rate presets</vt:lpstr>
      <vt:lpstr>Reading curves (diagnostics)</vt:lpstr>
      <vt:lpstr>Going further (optional)</vt:lpstr>
      <vt:lpstr>Practical tuning rules (so you don’t waste time)</vt:lpstr>
      <vt:lpstr>Wrap‑up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Hoffman</cp:lastModifiedBy>
  <cp:revision>2</cp:revision>
  <dcterms:created xsi:type="dcterms:W3CDTF">2013-01-27T09:14:16Z</dcterms:created>
  <dcterms:modified xsi:type="dcterms:W3CDTF">2026-03-04T13:35:38Z</dcterms:modified>
  <cp:category/>
</cp:coreProperties>
</file>